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305" r:id="rId3"/>
    <p:sldId id="272" r:id="rId4"/>
    <p:sldId id="307" r:id="rId5"/>
    <p:sldId id="306" r:id="rId6"/>
    <p:sldId id="309" r:id="rId7"/>
    <p:sldId id="323" r:id="rId8"/>
    <p:sldId id="310" r:id="rId9"/>
    <p:sldId id="311" r:id="rId10"/>
    <p:sldId id="324" r:id="rId11"/>
    <p:sldId id="312" r:id="rId12"/>
    <p:sldId id="325" r:id="rId13"/>
    <p:sldId id="326" r:id="rId14"/>
    <p:sldId id="327" r:id="rId15"/>
    <p:sldId id="313" r:id="rId16"/>
    <p:sldId id="328" r:id="rId17"/>
    <p:sldId id="329" r:id="rId18"/>
    <p:sldId id="330" r:id="rId19"/>
    <p:sldId id="331" r:id="rId20"/>
    <p:sldId id="314" r:id="rId21"/>
    <p:sldId id="332" r:id="rId22"/>
    <p:sldId id="333" r:id="rId23"/>
    <p:sldId id="304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985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1330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443B8-A35E-449D-90F0-676419CEF3C7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60A3E-C2F8-4C38-82BA-52C7B65D5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126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0FA47-8B15-437F-B746-4611B2E50E7E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FC3B5-3211-45B9-A75F-21C4D8AB7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76024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736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724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86471"/>
            <a:ext cx="9144000" cy="5715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0" y="896533"/>
            <a:ext cx="9144000" cy="8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976" y="1427584"/>
            <a:ext cx="8890532" cy="1871561"/>
          </a:xfrm>
        </p:spPr>
        <p:txBody>
          <a:bodyPr>
            <a:normAutofit fontScale="90000"/>
          </a:bodyPr>
          <a:lstStyle/>
          <a:p>
            <a:r>
              <a:rPr lang="vi-VN" sz="3100" b="1" dirty="0" smtClean="0">
                <a:latin typeface="+mn-lt"/>
              </a:rPr>
              <a:t/>
            </a:r>
            <a:br>
              <a:rPr lang="vi-VN" sz="3100" b="1" dirty="0" smtClean="0">
                <a:latin typeface="+mn-lt"/>
              </a:rPr>
            </a:br>
            <a:r>
              <a:rPr lang="vi-VN" b="1" dirty="0">
                <a:solidFill>
                  <a:srgbClr val="FF0000"/>
                </a:solidFill>
                <a:latin typeface="+mn-lt"/>
              </a:rPr>
              <a:t/>
            </a:r>
            <a:br>
              <a:rPr lang="vi-VN" b="1" dirty="0">
                <a:solidFill>
                  <a:srgbClr val="FF0000"/>
                </a:solidFill>
                <a:latin typeface="+mn-lt"/>
              </a:rPr>
            </a:br>
            <a:r>
              <a:rPr lang="en-US" sz="33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 TÀI: XÂY </a:t>
            </a:r>
            <a:r>
              <a:rPr lang="en-US" sz="3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 WEBSITE BÁN ĐỒ ĂN</a:t>
            </a:r>
            <a:r>
              <a:rPr lang="vi-VN" dirty="0">
                <a:latin typeface="+mn-lt"/>
              </a:rPr>
              <a:t/>
            </a:r>
            <a:br>
              <a:rPr lang="vi-VN" dirty="0">
                <a:latin typeface="+mn-lt"/>
              </a:rPr>
            </a:br>
            <a:endParaRPr sz="73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43599"/>
            <a:ext cx="9144000" cy="9144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6E100F5B-EAE5-3C9C-9E49-85BB88E05940}"/>
              </a:ext>
            </a:extLst>
          </p:cNvPr>
          <p:cNvSpPr txBox="1"/>
          <p:nvPr/>
        </p:nvSpPr>
        <p:spPr>
          <a:xfrm>
            <a:off x="5438082" y="3664905"/>
            <a:ext cx="3538105" cy="878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50000"/>
              </a:lnSpc>
            </a:pPr>
            <a:r>
              <a:rPr lang="vi-VN" dirty="0" smtClean="0">
                <a:latin typeface="+mj-lt"/>
              </a:rPr>
              <a:t>Giảng viên hướng dẫn</a:t>
            </a:r>
            <a:r>
              <a:rPr lang="vi-VN" i="1" dirty="0">
                <a:latin typeface="+mj-lt"/>
              </a:rPr>
              <a:t/>
            </a:r>
            <a:br>
              <a:rPr lang="vi-VN" i="1" dirty="0">
                <a:latin typeface="+mj-lt"/>
              </a:rPr>
            </a:br>
            <a:r>
              <a:rPr lang="vi-VN" b="1" dirty="0" smtClean="0">
                <a:latin typeface="+mj-lt"/>
              </a:rPr>
              <a:t>Ths.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Mai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="" xmlns:a16="http://schemas.microsoft.com/office/drawing/2014/main" id="{EDA1CFFB-36CB-2D13-F7C0-DF8669833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603622"/>
              </p:ext>
            </p:extLst>
          </p:nvPr>
        </p:nvGraphicFramePr>
        <p:xfrm>
          <a:off x="211974" y="3840479"/>
          <a:ext cx="5411585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3949">
                  <a:extLst>
                    <a:ext uri="{9D8B030D-6E8A-4147-A177-3AD203B41FA5}">
                      <a16:colId xmlns="" xmlns:a16="http://schemas.microsoft.com/office/drawing/2014/main" val="3772254492"/>
                    </a:ext>
                  </a:extLst>
                </a:gridCol>
                <a:gridCol w="1212197">
                  <a:extLst>
                    <a:ext uri="{9D8B030D-6E8A-4147-A177-3AD203B41FA5}">
                      <a16:colId xmlns="" xmlns:a16="http://schemas.microsoft.com/office/drawing/2014/main" val="1524444546"/>
                    </a:ext>
                  </a:extLst>
                </a:gridCol>
                <a:gridCol w="1615439">
                  <a:extLst>
                    <a:ext uri="{9D8B030D-6E8A-4147-A177-3AD203B41FA5}">
                      <a16:colId xmlns="" xmlns:a16="http://schemas.microsoft.com/office/drawing/2014/main" val="880988693"/>
                    </a:ext>
                  </a:extLst>
                </a:gridCol>
              </a:tblGrid>
              <a:tr h="321241">
                <a:tc gridSpan="3">
                  <a:txBody>
                    <a:bodyPr/>
                    <a:lstStyle/>
                    <a:p>
                      <a:r>
                        <a:rPr lang="vi-VN" b="1" dirty="0" smtClean="0">
                          <a:latin typeface="+mj-lt"/>
                        </a:rPr>
                        <a:t>Sinh </a:t>
                      </a:r>
                      <a:r>
                        <a:rPr lang="vi-VN" b="1" dirty="0">
                          <a:latin typeface="+mj-lt"/>
                        </a:rPr>
                        <a:t>viên thực hiện: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53551658"/>
                  </a:ext>
                </a:extLst>
              </a:tr>
              <a:tr h="185278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Trầm</a:t>
                      </a:r>
                      <a:r>
                        <a:rPr lang="en-US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Tấn</a:t>
                      </a:r>
                      <a:r>
                        <a:rPr lang="en-US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Khá</a:t>
                      </a:r>
                      <a:endParaRPr lang="en-US" b="0" baseline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b="0" baseline="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Nguyễn</a:t>
                      </a:r>
                      <a:r>
                        <a:rPr lang="en-US" b="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Phi </a:t>
                      </a:r>
                      <a:r>
                        <a:rPr lang="en-US" b="0" baseline="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Hùng</a:t>
                      </a:r>
                      <a:endParaRPr lang="en-US" b="0" baseline="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b="0" baseline="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Nguyễn</a:t>
                      </a:r>
                      <a:r>
                        <a:rPr lang="en-US" b="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Ngọc</a:t>
                      </a:r>
                      <a:r>
                        <a:rPr lang="en-US" b="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Anh </a:t>
                      </a:r>
                      <a:r>
                        <a:rPr lang="en-US" b="0" baseline="0" dirty="0" err="1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Khoa</a:t>
                      </a:r>
                      <a:endParaRPr lang="en-US" b="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 smtClean="0">
                          <a:latin typeface="+mj-lt"/>
                        </a:rPr>
                        <a:t>1101220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</a:t>
                      </a:r>
                    </a:p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110122079</a:t>
                      </a:r>
                    </a:p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110122095</a:t>
                      </a:r>
                      <a:endParaRPr lang="vi-V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 smtClean="0">
                          <a:latin typeface="+mj-lt"/>
                        </a:rPr>
                        <a:t>DA22TT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DA22TTD</a:t>
                      </a:r>
                    </a:p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DA22TTD</a:t>
                      </a:r>
                      <a:endParaRPr lang="vi-V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84865112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20040" y="227255"/>
            <a:ext cx="8823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>
                <a:solidFill>
                  <a:srgbClr val="FF0000"/>
                </a:solidFill>
                <a:latin typeface="+mj-lt"/>
              </a:rPr>
              <a:t>BÁO CÁO ĐỒ ÁN MÔN HỌC </a:t>
            </a:r>
            <a:br>
              <a:rPr lang="vi-VN" sz="2400" b="1" dirty="0">
                <a:solidFill>
                  <a:srgbClr val="FF0000"/>
                </a:solidFill>
                <a:latin typeface="+mj-lt"/>
              </a:rPr>
            </a:b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 TRIỂN ỨNG DỤNG WEB VỚI MÃ NGUỒN MỞ</a:t>
            </a:r>
            <a:r>
              <a:rPr lang="vi-VN" sz="2400" dirty="0">
                <a:latin typeface="+mj-lt"/>
              </a:rPr>
              <a:t/>
            </a:r>
            <a:br>
              <a:rPr lang="vi-VN" sz="2400" dirty="0">
                <a:latin typeface="+mj-lt"/>
              </a:rPr>
            </a:br>
            <a:endParaRPr lang="en-US" sz="2400" b="1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sz="3200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945" y="1452880"/>
            <a:ext cx="8229600" cy="467328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vi-VN" b="1" dirty="0" smtClean="0">
                <a:latin typeface="+mj-lt"/>
              </a:rPr>
              <a:t>1.1 Lý </a:t>
            </a:r>
            <a:r>
              <a:rPr lang="vi-VN" b="1" dirty="0">
                <a:latin typeface="+mj-lt"/>
              </a:rPr>
              <a:t>do chọn đề </a:t>
            </a:r>
            <a:r>
              <a:rPr lang="vi-VN" b="1" dirty="0" smtClean="0">
                <a:latin typeface="+mj-lt"/>
              </a:rPr>
              <a:t>tài</a:t>
            </a:r>
            <a:endParaRPr lang="en-US" b="1" dirty="0" smtClean="0">
              <a:latin typeface="+mj-lt"/>
            </a:endParaRPr>
          </a:p>
          <a:p>
            <a:pPr marL="0" indent="0" fontAlgn="base">
              <a:buNone/>
            </a:pPr>
            <a:r>
              <a:rPr lang="en-US" dirty="0" smtClean="0">
                <a:latin typeface="+mj-lt"/>
              </a:rPr>
              <a:t>- </a:t>
            </a:r>
            <a:r>
              <a:rPr lang="vi-VN" dirty="0" smtClean="0">
                <a:latin typeface="+mj-lt"/>
              </a:rPr>
              <a:t>Vấn </a:t>
            </a:r>
            <a:r>
              <a:rPr lang="vi-VN" dirty="0">
                <a:latin typeface="+mj-lt"/>
              </a:rPr>
              <a:t>đề: Nhu cầu đặt đồ ăn online tăng cao, người dùng cần sự tiện lợi, nhanh chóng trong cuộc sống bận rộn</a:t>
            </a:r>
            <a:r>
              <a:rPr lang="vi-VN" dirty="0" smtClean="0">
                <a:latin typeface="+mj-lt"/>
              </a:rPr>
              <a:t>.</a:t>
            </a:r>
            <a:endParaRPr lang="vi-VN" dirty="0">
              <a:latin typeface="+mj-lt"/>
            </a:endParaRPr>
          </a:p>
          <a:p>
            <a:pPr marL="0" indent="0" fontAlgn="base">
              <a:buNone/>
            </a:pPr>
            <a:r>
              <a:rPr lang="en-US" dirty="0" smtClean="0">
                <a:latin typeface="+mj-lt"/>
              </a:rPr>
              <a:t>- </a:t>
            </a:r>
            <a:r>
              <a:rPr lang="vi-VN" dirty="0" smtClean="0">
                <a:latin typeface="+mj-lt"/>
              </a:rPr>
              <a:t>Rào </a:t>
            </a:r>
            <a:r>
              <a:rPr lang="vi-VN" dirty="0">
                <a:latin typeface="+mj-lt"/>
              </a:rPr>
              <a:t>cản lớn: Các cửa hàng nhỏ khó tiếp cận khách hàng, thiếu nền tảng kết nối giữa người mua - người bán - người giao hàng</a:t>
            </a:r>
            <a:r>
              <a:rPr lang="vi-VN" dirty="0" smtClean="0">
                <a:latin typeface="+mj-lt"/>
              </a:rPr>
              <a:t>.</a:t>
            </a:r>
            <a:endParaRPr lang="vi-VN" dirty="0">
              <a:latin typeface="+mj-lt"/>
            </a:endParaRPr>
          </a:p>
          <a:p>
            <a:pPr marL="0" indent="0" fontAlgn="base">
              <a:buNone/>
            </a:pPr>
            <a:r>
              <a:rPr lang="en-US" dirty="0" smtClean="0">
                <a:latin typeface="+mj-lt"/>
              </a:rPr>
              <a:t>- </a:t>
            </a:r>
            <a:r>
              <a:rPr lang="vi-VN" dirty="0" smtClean="0">
                <a:latin typeface="+mj-lt"/>
              </a:rPr>
              <a:t>Cơ </a:t>
            </a:r>
            <a:r>
              <a:rPr lang="vi-VN" dirty="0">
                <a:latin typeface="+mj-lt"/>
              </a:rPr>
              <a:t>hội: Công nghệ web và định vị GPS phổ biến, có thể xây dựng hệ thống đặt hàng - giao hàng trực tuyến hiệu quả</a:t>
            </a:r>
            <a:endParaRPr lang="vi-VN" dirty="0" smtClean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mtClean="0"/>
              <a:t>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23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sz="3200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52880"/>
            <a:ext cx="8229600" cy="467328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vi-VN" b="1" dirty="0" smtClean="0">
                <a:latin typeface="+mj-lt"/>
              </a:rPr>
              <a:t>1.2 Mục </a:t>
            </a:r>
            <a:r>
              <a:rPr lang="vi-VN" b="1" dirty="0">
                <a:latin typeface="+mj-lt"/>
              </a:rPr>
              <a:t>đích </a:t>
            </a:r>
            <a:r>
              <a:rPr lang="vi-VN" b="1" dirty="0" smtClean="0">
                <a:latin typeface="+mj-lt"/>
              </a:rPr>
              <a:t>nghiên cứu</a:t>
            </a:r>
            <a:endParaRPr lang="vi-VN" b="1" dirty="0">
              <a:latin typeface="+mj-lt"/>
            </a:endParaRPr>
          </a:p>
          <a:p>
            <a:pPr>
              <a:buFontTx/>
              <a:buChar char="-"/>
            </a:pPr>
            <a:r>
              <a:rPr lang="vi-VN" dirty="0">
                <a:latin typeface="+mj-lt"/>
              </a:rPr>
              <a:t>Xây dựng hệ thống kết nối khách hàng, cửa hàng và shipper trên một nền tảng duy nhất</a:t>
            </a:r>
            <a:r>
              <a:rPr lang="vi-VN" dirty="0" smtClean="0">
                <a:latin typeface="+mj-lt"/>
              </a:rPr>
              <a:t>.</a:t>
            </a:r>
            <a:endParaRPr lang="vi-VN" dirty="0">
              <a:latin typeface="+mj-lt"/>
            </a:endParaRPr>
          </a:p>
          <a:p>
            <a:pPr>
              <a:buFontTx/>
              <a:buChar char="-"/>
            </a:pPr>
            <a:r>
              <a:rPr lang="vi-VN" dirty="0">
                <a:latin typeface="+mj-lt"/>
              </a:rPr>
              <a:t>Thiết kế cơ sở dữ liệu và các chức năng nghiệp vụ cơ bản (đặt hàng, quản lý sản phẩm, giao hàng</a:t>
            </a:r>
            <a:r>
              <a:rPr lang="vi-VN" dirty="0" smtClean="0">
                <a:latin typeface="+mj-lt"/>
              </a:rPr>
              <a:t>).</a:t>
            </a:r>
            <a:endParaRPr lang="vi-VN" dirty="0">
              <a:latin typeface="+mj-lt"/>
            </a:endParaRPr>
          </a:p>
          <a:p>
            <a:pPr>
              <a:buFontTx/>
              <a:buChar char="-"/>
            </a:pPr>
            <a:r>
              <a:rPr lang="vi-VN" dirty="0">
                <a:latin typeface="+mj-lt"/>
              </a:rPr>
              <a:t>Phát triển và kiểm thử các API chính của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60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sz="3200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52880"/>
            <a:ext cx="8229600" cy="467328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vi-VN" b="1" dirty="0" smtClean="0">
                <a:latin typeface="+mj-lt"/>
              </a:rPr>
              <a:t>1.3 Đối tượng nghiên cứu</a:t>
            </a:r>
            <a:endParaRPr lang="vi-VN" b="1" dirty="0">
              <a:latin typeface="+mj-lt"/>
            </a:endParaRPr>
          </a:p>
          <a:p>
            <a:pPr>
              <a:buFontTx/>
              <a:buChar char="-"/>
            </a:pPr>
            <a:r>
              <a:rPr lang="vi-VN" dirty="0">
                <a:latin typeface="+mj-lt"/>
              </a:rPr>
              <a:t>Khách hàng có nhu cầu đặt đồ ăn trực tuyến một cách nhanh chóng, tiện lợi</a:t>
            </a:r>
            <a:r>
              <a:rPr lang="vi-VN" dirty="0" smtClean="0">
                <a:latin typeface="+mj-lt"/>
              </a:rPr>
              <a:t>.</a:t>
            </a:r>
            <a:endParaRPr lang="vi-VN" dirty="0">
              <a:latin typeface="+mj-lt"/>
            </a:endParaRPr>
          </a:p>
          <a:p>
            <a:pPr>
              <a:buFontTx/>
              <a:buChar char="-"/>
            </a:pPr>
            <a:r>
              <a:rPr lang="vi-VN" dirty="0">
                <a:latin typeface="+mj-lt"/>
              </a:rPr>
              <a:t>Cửa hàng/quán ăn muốn mở rộng kênh bán hàng và tiếp cận khách hàng online</a:t>
            </a:r>
            <a:r>
              <a:rPr lang="vi-VN" dirty="0" smtClean="0">
                <a:latin typeface="+mj-lt"/>
              </a:rPr>
              <a:t>.</a:t>
            </a:r>
            <a:endParaRPr lang="vi-VN" dirty="0">
              <a:latin typeface="+mj-lt"/>
            </a:endParaRPr>
          </a:p>
          <a:p>
            <a:pPr>
              <a:buFontTx/>
              <a:buChar char="-"/>
            </a:pPr>
            <a:r>
              <a:rPr lang="vi-VN" dirty="0">
                <a:latin typeface="+mj-lt"/>
              </a:rPr>
              <a:t>Shipper có nhu cầu nhận đơn giao hàng và tăng thu nhập</a:t>
            </a:r>
            <a:r>
              <a:rPr lang="vi-VN" dirty="0" smtClean="0">
                <a:latin typeface="+mj-lt"/>
              </a:rPr>
              <a:t>.</a:t>
            </a:r>
            <a:endParaRPr lang="vi-VN" dirty="0">
              <a:latin typeface="+mj-lt"/>
            </a:endParaRPr>
          </a:p>
          <a:p>
            <a:pPr>
              <a:buFontTx/>
              <a:buChar char="-"/>
            </a:pPr>
            <a:r>
              <a:rPr lang="vi-VN" dirty="0">
                <a:latin typeface="+mj-lt"/>
              </a:rPr>
              <a:t>Quản trị viên cần quản lý toàn bộ hệ thống một cách hiệu quả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/>
              <a:t>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30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sz="3200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452880"/>
            <a:ext cx="8686801" cy="467328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vi-VN" b="1" dirty="0" smtClean="0">
                <a:latin typeface="+mj-lt"/>
              </a:rPr>
              <a:t>1.4 Phạm vi ngiên cứu</a:t>
            </a:r>
            <a:endParaRPr lang="vi-VN" b="1" dirty="0">
              <a:latin typeface="+mj-lt"/>
            </a:endParaRPr>
          </a:p>
          <a:p>
            <a:pPr>
              <a:buFontTx/>
              <a:buChar char="-"/>
            </a:pPr>
            <a:r>
              <a:rPr lang="vi-VN" dirty="0">
                <a:latin typeface="+mj-lt"/>
              </a:rPr>
              <a:t>Xây dựng hệ thống ở mức cơ bản, tập trung vào chức năng cốt lõi</a:t>
            </a:r>
            <a:r>
              <a:rPr lang="vi-VN" dirty="0" smtClean="0">
                <a:latin typeface="+mj-lt"/>
              </a:rPr>
              <a:t>.</a:t>
            </a:r>
            <a:endParaRPr lang="vi-VN" dirty="0">
              <a:latin typeface="+mj-lt"/>
            </a:endParaRPr>
          </a:p>
          <a:p>
            <a:pPr>
              <a:buFontTx/>
              <a:buChar char="-"/>
            </a:pPr>
            <a:r>
              <a:rPr lang="vi-VN" dirty="0">
                <a:latin typeface="+mj-lt"/>
              </a:rPr>
              <a:t>Chưa đi sâu vào tối ưu hiệu năng và bảo mật nâng cao</a:t>
            </a:r>
            <a:r>
              <a:rPr lang="vi-VN" dirty="0" smtClean="0">
                <a:latin typeface="+mj-lt"/>
              </a:rPr>
              <a:t>.</a:t>
            </a:r>
            <a:endParaRPr lang="vi-VN" dirty="0">
              <a:latin typeface="+mj-lt"/>
            </a:endParaRPr>
          </a:p>
          <a:p>
            <a:pPr>
              <a:buFontTx/>
              <a:buChar char="-"/>
            </a:pPr>
            <a:r>
              <a:rPr lang="vi-VN" dirty="0">
                <a:latin typeface="+mj-lt"/>
              </a:rPr>
              <a:t>Đối tượng sử dụng chính là khách hàng, cửa hàng, shipper và quản trị viên.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mtClean="0"/>
              <a:t>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749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sz="3200" dirty="0">
                <a:latin typeface="+mj-lt"/>
              </a:rPr>
              <a:t>CHƯƠNG </a:t>
            </a:r>
            <a:r>
              <a:rPr lang="en-US" sz="3200" dirty="0">
                <a:latin typeface="+mj-lt"/>
              </a:rPr>
              <a:t>1</a:t>
            </a:r>
            <a:r>
              <a:rPr lang="vi-VN" sz="3200" dirty="0" smtClean="0">
                <a:latin typeface="+mj-lt"/>
              </a:rPr>
              <a:t>: </a:t>
            </a:r>
            <a:r>
              <a:rPr lang="en-US" sz="3200" dirty="0" smtClean="0">
                <a:latin typeface="+mj-lt"/>
              </a:rPr>
              <a:t>CƠ SỞ </a:t>
            </a:r>
            <a:r>
              <a:rPr lang="vi-VN" sz="3200" dirty="0" smtClean="0">
                <a:latin typeface="+mj-lt"/>
              </a:rPr>
              <a:t>LÝ THUYẾT</a:t>
            </a:r>
            <a:endParaRPr lang="vi-VN" sz="3200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mtClean="0"/>
              <a:t>5</a:t>
            </a:r>
            <a:endParaRPr lang="en-US"/>
          </a:p>
        </p:txBody>
      </p:sp>
      <p:sp>
        <p:nvSpPr>
          <p:cNvPr id="9" name="AutoShape 8" descr="Empower Your Projects with Mindrops' Node.js Development Servic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570" y="2887311"/>
            <a:ext cx="2605862" cy="2019651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079" y="1317995"/>
            <a:ext cx="2800465" cy="213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055" y="4311359"/>
            <a:ext cx="2623357" cy="1951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 descr="What is REST and REST API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381" y="1383582"/>
            <a:ext cx="2786303" cy="2026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3244" y="4341297"/>
            <a:ext cx="28575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436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507240"/>
          </a:xfrm>
        </p:spPr>
        <p:txBody>
          <a:bodyPr/>
          <a:lstStyle/>
          <a:p>
            <a:r>
              <a:rPr lang="vi-VN" sz="3200" dirty="0" smtClean="0">
                <a:latin typeface="+mj-lt"/>
              </a:rPr>
              <a:t>CHƯƠNG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lang="vi-V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200" dirty="0" smtClean="0">
                <a:latin typeface="+mj-lt"/>
              </a:rPr>
              <a:t>: </a:t>
            </a:r>
            <a:r>
              <a:rPr lang="en-US" sz="3200" dirty="0"/>
              <a:t>PHÂN TÍCH THIẾT KẾ HỆ THỐNG</a:t>
            </a:r>
            <a:endParaRPr lang="vi-VN" sz="3200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mtClean="0"/>
              <a:t>5</a:t>
            </a:r>
            <a:endParaRPr lang="en-US"/>
          </a:p>
        </p:txBody>
      </p:sp>
      <p:sp>
        <p:nvSpPr>
          <p:cNvPr id="9" name="AutoShape 8" descr="Empower Your Projects with Mindrops' Node.js Development Servic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60375" y="1415534"/>
            <a:ext cx="21448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MÔ TẢ ĐỀ TÀI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91590"/>
            <a:ext cx="7604760" cy="25405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Website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bán đồ ăn - Hệ thống đặt và giao đồ ăn trực tuyến kết nối khách hàng, cửa hàng và shipper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vai trò: Customer (đặt hàng), Seller (bán hàng), Shipper (giao hàng), Admin (quản trị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Tính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năng chính: Đặt món, thanh toán đa dạng (COD/thẻ/ví), chat realtime, theo dõi đơn hàng, đánh giá, voucher, tính phí ship tự động.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774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3306" y="172001"/>
            <a:ext cx="10302788" cy="507240"/>
          </a:xfrm>
        </p:spPr>
        <p:txBody>
          <a:bodyPr/>
          <a:lstStyle/>
          <a:p>
            <a:pPr algn="l"/>
            <a:r>
              <a:rPr lang="vi-VN" sz="3200" dirty="0">
                <a:latin typeface="+mj-lt"/>
              </a:rPr>
              <a:t>CHƯƠNG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PHÂN TÍCH THIẾT KẾ HỆ THỐNG</a:t>
            </a:r>
            <a:endParaRPr lang="vi-V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91" y="1037053"/>
            <a:ext cx="8229600" cy="467328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 PHÂN TÍCH THIẾT KẾ HỆ THỐNG</a:t>
            </a:r>
          </a:p>
          <a:p>
            <a:pPr marL="0" indent="0" fontAlgn="base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2.2.1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Use Case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mtClean="0"/>
              <a:t>5</a:t>
            </a: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57237" y="5931081"/>
            <a:ext cx="3389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2.1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Use case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528" y="2057399"/>
            <a:ext cx="6401752" cy="3454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1574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6950" y="203580"/>
            <a:ext cx="9547667" cy="507240"/>
          </a:xfrm>
        </p:spPr>
        <p:txBody>
          <a:bodyPr/>
          <a:lstStyle/>
          <a:p>
            <a:r>
              <a:rPr lang="vi-VN" sz="3200" dirty="0">
                <a:latin typeface="+mj-lt"/>
              </a:rPr>
              <a:t>CHƯƠNG</a:t>
            </a:r>
            <a:r>
              <a:rPr lang="en-US" sz="3200" dirty="0"/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PHÂN TÍCH THIẾT KẾ HỆ THỐNG</a:t>
            </a:r>
            <a:endParaRPr lang="vi-VN" sz="3200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91" y="1037053"/>
            <a:ext cx="8229600" cy="467328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2.2.2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ERD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mtClean="0"/>
              <a:t>5</a:t>
            </a: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57237" y="5931081"/>
            <a:ext cx="3389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2.2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ERD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79" y="1645920"/>
            <a:ext cx="7536411" cy="4064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147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7858" y="223935"/>
            <a:ext cx="9379716" cy="507240"/>
          </a:xfrm>
        </p:spPr>
        <p:txBody>
          <a:bodyPr/>
          <a:lstStyle/>
          <a:p>
            <a:r>
              <a:rPr lang="vi-VN" sz="3200" dirty="0">
                <a:latin typeface="+mj-lt"/>
              </a:rPr>
              <a:t>CHƯƠNG</a:t>
            </a:r>
            <a:r>
              <a:rPr lang="en-US" sz="3200" dirty="0"/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PHÂN TÍCH THIẾT KẾ HỆ THỐNG</a:t>
            </a:r>
            <a:endParaRPr lang="vi-VN" sz="3200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91" y="1037053"/>
            <a:ext cx="8229600" cy="467328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2.2.3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MLD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mtClean="0"/>
              <a:t>5</a:t>
            </a: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57237" y="5931081"/>
            <a:ext cx="3389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2.3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MLD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548640" y="1539240"/>
            <a:ext cx="8225905" cy="417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94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8528" y="260029"/>
            <a:ext cx="9482353" cy="507240"/>
          </a:xfrm>
        </p:spPr>
        <p:txBody>
          <a:bodyPr/>
          <a:lstStyle/>
          <a:p>
            <a:r>
              <a:rPr lang="vi-VN" sz="3200" dirty="0">
                <a:latin typeface="+mj-lt"/>
              </a:rPr>
              <a:t>CHƯƠNG</a:t>
            </a:r>
            <a:r>
              <a:rPr lang="en-US" sz="3200" dirty="0"/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PHÂN TÍCH THIẾT KẾ HỆ THỐNG</a:t>
            </a:r>
            <a:endParaRPr lang="vi-VN" sz="3200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91" y="1207826"/>
            <a:ext cx="8229600" cy="620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PHÁC THẢO GIAO DIỆN</a:t>
            </a:r>
          </a:p>
          <a:p>
            <a:pPr marL="0" indent="0" fontAlgn="base">
              <a:buNone/>
            </a:pP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mtClean="0"/>
              <a:t>5</a:t>
            </a: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015412" y="5601210"/>
            <a:ext cx="5234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2.4:Phác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thảo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2" y="1828800"/>
            <a:ext cx="7101840" cy="3719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728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3708" y="274638"/>
            <a:ext cx="9612982" cy="507240"/>
          </a:xfrm>
        </p:spPr>
        <p:txBody>
          <a:bodyPr/>
          <a:lstStyle/>
          <a:p>
            <a:r>
              <a:rPr lang="vi-VN" sz="3200" dirty="0">
                <a:latin typeface="+mj-lt"/>
              </a:rPr>
              <a:t>CHƯƠNG</a:t>
            </a:r>
            <a:r>
              <a:rPr lang="en-US" sz="3200" dirty="0"/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PHÂN TÍCH THIẾT KẾ HỆ THỐNG</a:t>
            </a:r>
            <a:endParaRPr lang="vi-VN" sz="3200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91" y="1207826"/>
            <a:ext cx="8229600" cy="620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PHÁC THẢO GIAO DIỆN</a:t>
            </a:r>
          </a:p>
          <a:p>
            <a:pPr marL="0" indent="0" fontAlgn="base">
              <a:buNone/>
            </a:pP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mtClean="0"/>
              <a:t>5</a:t>
            </a: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015412" y="5601210"/>
            <a:ext cx="5234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2.5: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Phác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thảo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470131" y="1828800"/>
            <a:ext cx="7985760" cy="370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7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0411" y="269358"/>
            <a:ext cx="9416378" cy="507240"/>
          </a:xfrm>
        </p:spPr>
        <p:txBody>
          <a:bodyPr/>
          <a:lstStyle/>
          <a:p>
            <a:r>
              <a:rPr lang="vi-VN" sz="3200" dirty="0">
                <a:latin typeface="+mj-lt"/>
              </a:rPr>
              <a:t>CHƯƠNG</a:t>
            </a:r>
            <a:r>
              <a:rPr lang="en-US" sz="3200" dirty="0"/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PHÂN TÍCH THIẾT KẾ HỆ THỐNG</a:t>
            </a:r>
            <a:endParaRPr lang="vi-VN" sz="3200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91" y="1207826"/>
            <a:ext cx="8229600" cy="620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PHÁC THẢO GIAO DIỆN</a:t>
            </a:r>
          </a:p>
          <a:p>
            <a:pPr marL="0" indent="0" fontAlgn="base">
              <a:buNone/>
            </a:pP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mtClean="0"/>
              <a:t>5</a:t>
            </a: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015412" y="5601210"/>
            <a:ext cx="5234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2.6: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Phác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thảo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" y="1691640"/>
            <a:ext cx="71628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797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2409" y="213374"/>
            <a:ext cx="9398377" cy="507240"/>
          </a:xfrm>
        </p:spPr>
        <p:txBody>
          <a:bodyPr/>
          <a:lstStyle/>
          <a:p>
            <a:r>
              <a:rPr lang="vi-VN" sz="3200" dirty="0">
                <a:latin typeface="+mj-lt"/>
              </a:rPr>
              <a:t>CHƯƠNG</a:t>
            </a:r>
            <a:r>
              <a:rPr lang="en-US" sz="3200" dirty="0">
                <a:latin typeface="+mj-lt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PHÂN TÍCH THIẾT KẾ HỆ THỐNG</a:t>
            </a:r>
            <a:endParaRPr lang="vi-VN" sz="3200" dirty="0"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91" y="1207826"/>
            <a:ext cx="8229600" cy="620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2.3 PHÁC THẢO GIAO DIỆN</a:t>
            </a:r>
          </a:p>
          <a:p>
            <a:pPr marL="0" indent="0" fontAlgn="base">
              <a:buNone/>
            </a:pP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mtClean="0"/>
              <a:t>5</a:t>
            </a: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015412" y="5601210"/>
            <a:ext cx="5234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2.6: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Phác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thảo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Shipper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845509" y="1828800"/>
            <a:ext cx="7574280" cy="367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7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91" y="274638"/>
            <a:ext cx="8728364" cy="507240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CHƯƠNG 3: XÂY DỰNG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91" y="1207826"/>
            <a:ext cx="8229600" cy="4888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 GIỚI THIỆU GIAO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3.1.1 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Thanh thực đơn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mtClean="0"/>
              <a:t>5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570250" y="3275776"/>
            <a:ext cx="4031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3.1: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Thanh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33" y="2226780"/>
            <a:ext cx="8720267" cy="958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697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91" y="274638"/>
            <a:ext cx="8728364" cy="507240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CHƯƠNG 3: XÂY DỰNG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91" y="1207826"/>
            <a:ext cx="7947325" cy="4888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 GIỚI THIỆU GIAO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3.1.2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mtClean="0"/>
              <a:t>5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753129" y="5624391"/>
            <a:ext cx="4031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3.2: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077" y="2127028"/>
            <a:ext cx="7182309" cy="357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3406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91" y="274638"/>
            <a:ext cx="8728364" cy="507240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CHƯƠNG 3: XÂY DỰNG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91" y="1207826"/>
            <a:ext cx="8229600" cy="4888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 GIỚI THIỆU GIAO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3.1.2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giỏ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mtClean="0"/>
              <a:t>5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03839" y="5907465"/>
            <a:ext cx="4031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3.3: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giỏ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887" y="2286001"/>
            <a:ext cx="6374493" cy="3520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2638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91" y="274638"/>
            <a:ext cx="8728364" cy="507240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CHƯƠNG 3: XÂY DỰNG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91" y="1207826"/>
            <a:ext cx="8229600" cy="4888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 GIỚI THIỆU GIAO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3.1.3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mtClean="0"/>
              <a:t>5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753129" y="5624391"/>
            <a:ext cx="4031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3.4: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70" y="2187015"/>
            <a:ext cx="7043819" cy="3327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2638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91" y="274638"/>
            <a:ext cx="8728364" cy="507240"/>
          </a:xfrm>
        </p:spPr>
        <p:txBody>
          <a:bodyPr/>
          <a:lstStyle/>
          <a:p>
            <a:r>
              <a:rPr lang="en-US" sz="3200" dirty="0"/>
              <a:t>CHƯƠNG 3: XÂY DỰNG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91" y="1207826"/>
            <a:ext cx="8229600" cy="4888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 GIỚI THIỆU GIAO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3.1.2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Tin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mtClean="0"/>
              <a:t>5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454549" y="5759991"/>
            <a:ext cx="4031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3.5: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Tin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nhắn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685" y="2152791"/>
            <a:ext cx="3837506" cy="3446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6842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96672" y="218653"/>
            <a:ext cx="11028783" cy="507240"/>
          </a:xfrm>
        </p:spPr>
        <p:txBody>
          <a:bodyPr/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CHƯƠNG 4: KẾT LUẬN VÀ HƯỚNG PHÁT TRIỂN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91" y="1207826"/>
            <a:ext cx="8229600" cy="4888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 KẾT QUẢ ĐẠT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mtClean="0"/>
              <a:t>5</a:t>
            </a: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24840" y="1783211"/>
            <a:ext cx="7985760" cy="1709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+mj-lt"/>
              </a:rPr>
              <a:t>- </a:t>
            </a:r>
            <a:r>
              <a:rPr lang="vi-VN" dirty="0" smtClean="0">
                <a:latin typeface="+mj-lt"/>
              </a:rPr>
              <a:t>Xây </a:t>
            </a:r>
            <a:r>
              <a:rPr lang="vi-VN" dirty="0">
                <a:latin typeface="+mj-lt"/>
              </a:rPr>
              <a:t>dựng thành công website bán đồ ăn với 4 vai trò người dùng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+mj-lt"/>
              </a:rPr>
              <a:t>- </a:t>
            </a:r>
            <a:r>
              <a:rPr lang="vi-VN" dirty="0" smtClean="0">
                <a:latin typeface="+mj-lt"/>
              </a:rPr>
              <a:t>Thiết </a:t>
            </a:r>
            <a:r>
              <a:rPr lang="vi-VN" dirty="0">
                <a:latin typeface="+mj-lt"/>
              </a:rPr>
              <a:t>kế thành công sơ đồ Use Case, ERD và mô hình dữ liệu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+mj-lt"/>
              </a:rPr>
              <a:t>- </a:t>
            </a:r>
            <a:r>
              <a:rPr lang="vi-VN" dirty="0" smtClean="0">
                <a:latin typeface="+mj-lt"/>
              </a:rPr>
              <a:t>Kiểm </a:t>
            </a:r>
            <a:r>
              <a:rPr lang="vi-VN" dirty="0">
                <a:latin typeface="+mj-lt"/>
              </a:rPr>
              <a:t>thử thành công các API bằng Postman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+mj-lt"/>
              </a:rPr>
              <a:t>- </a:t>
            </a:r>
            <a:r>
              <a:rPr lang="vi-VN" dirty="0" smtClean="0">
                <a:latin typeface="+mj-lt"/>
              </a:rPr>
              <a:t>Quản </a:t>
            </a:r>
            <a:r>
              <a:rPr lang="vi-VN" dirty="0">
                <a:latin typeface="+mj-lt"/>
              </a:rPr>
              <a:t>lý mã nguồn với GitHub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08632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14221" y="166719"/>
            <a:ext cx="11028783" cy="507240"/>
          </a:xfrm>
        </p:spPr>
        <p:txBody>
          <a:bodyPr/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CHƯƠNG 4: KẾT LUẬN VÀ HƯỚNG PHÁT TRIỂN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91" y="1207826"/>
            <a:ext cx="8229600" cy="4888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b="1" dirty="0">
                <a:latin typeface="+mj-lt"/>
              </a:rPr>
              <a:t>4.2 Ưu nhược </a:t>
            </a:r>
            <a:r>
              <a:rPr lang="vi-VN" b="1" dirty="0" smtClean="0">
                <a:latin typeface="+mj-lt"/>
              </a:rPr>
              <a:t>điểm</a:t>
            </a:r>
            <a:endParaRPr lang="en-US" b="1" dirty="0" smtClean="0">
              <a:latin typeface="+mj-lt"/>
            </a:endParaRPr>
          </a:p>
          <a:p>
            <a:pPr marL="0" indent="0">
              <a:buNone/>
            </a:pPr>
            <a:r>
              <a:rPr lang="en-US" b="1" dirty="0"/>
              <a:t>	</a:t>
            </a:r>
            <a:endParaRPr lang="vi-VN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mtClean="0"/>
              <a:t>5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881611" y="1771918"/>
            <a:ext cx="7437120" cy="4202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>
                <a:latin typeface="+mj-lt"/>
              </a:rPr>
              <a:t>Ưu </a:t>
            </a:r>
            <a:r>
              <a:rPr lang="vi-VN" b="1" dirty="0" smtClean="0">
                <a:latin typeface="+mj-lt"/>
              </a:rPr>
              <a:t>điểm</a:t>
            </a:r>
            <a:endParaRPr lang="en-US" dirty="0" smtClean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+mj-lt"/>
              </a:rPr>
              <a:t>- </a:t>
            </a:r>
            <a:r>
              <a:rPr lang="vi-VN" dirty="0" smtClean="0">
                <a:latin typeface="+mj-lt"/>
              </a:rPr>
              <a:t>Hệ </a:t>
            </a:r>
            <a:r>
              <a:rPr lang="vi-VN" dirty="0">
                <a:latin typeface="+mj-lt"/>
              </a:rPr>
              <a:t>thống đầy đủ chức năng cho 4 vai trò riêng biệt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+mj-lt"/>
              </a:rPr>
              <a:t>- </a:t>
            </a:r>
            <a:r>
              <a:rPr lang="vi-VN" dirty="0" smtClean="0">
                <a:latin typeface="+mj-lt"/>
              </a:rPr>
              <a:t>Quy </a:t>
            </a:r>
            <a:r>
              <a:rPr lang="vi-VN" dirty="0">
                <a:latin typeface="+mj-lt"/>
              </a:rPr>
              <a:t>trình đặt hàng hoàn chỉnh từ duyệt sản phẩm đến giao hàng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+mj-lt"/>
              </a:rPr>
              <a:t>- </a:t>
            </a:r>
            <a:r>
              <a:rPr lang="vi-VN" dirty="0" smtClean="0">
                <a:latin typeface="+mj-lt"/>
              </a:rPr>
              <a:t>Tích </a:t>
            </a:r>
            <a:r>
              <a:rPr lang="vi-VN" dirty="0">
                <a:latin typeface="+mj-lt"/>
              </a:rPr>
              <a:t>hợp chat realtime giữa khách hàng, cửa hàng và shipper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+mj-lt"/>
              </a:rPr>
              <a:t>- </a:t>
            </a:r>
            <a:r>
              <a:rPr lang="vi-VN" dirty="0" smtClean="0">
                <a:latin typeface="+mj-lt"/>
              </a:rPr>
              <a:t>Giao </a:t>
            </a:r>
            <a:r>
              <a:rPr lang="vi-VN" dirty="0">
                <a:latin typeface="+mj-lt"/>
              </a:rPr>
              <a:t>diện responsive, tương thích đa thiết </a:t>
            </a:r>
            <a:r>
              <a:rPr lang="vi-VN" dirty="0" smtClean="0">
                <a:latin typeface="+mj-lt"/>
              </a:rPr>
              <a:t>bị</a:t>
            </a:r>
            <a:endParaRPr lang="en-US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vi-VN" b="1" dirty="0" smtClean="0">
                <a:latin typeface="+mj-lt"/>
              </a:rPr>
              <a:t>Nhược điểm</a:t>
            </a:r>
            <a:endParaRPr lang="vi-VN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+mj-lt"/>
              </a:rPr>
              <a:t>- </a:t>
            </a:r>
            <a:r>
              <a:rPr lang="vi-VN" dirty="0" smtClean="0">
                <a:latin typeface="+mj-lt"/>
              </a:rPr>
              <a:t>Chưa </a:t>
            </a:r>
            <a:r>
              <a:rPr lang="vi-VN" dirty="0">
                <a:latin typeface="+mj-lt"/>
              </a:rPr>
              <a:t>tích hợp bản đồ/GPS để tính khoảng cách giao hàng chính xác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+mj-lt"/>
              </a:rPr>
              <a:t>- </a:t>
            </a:r>
            <a:r>
              <a:rPr lang="vi-VN" dirty="0" smtClean="0">
                <a:latin typeface="+mj-lt"/>
              </a:rPr>
              <a:t>Chưa </a:t>
            </a:r>
            <a:r>
              <a:rPr lang="vi-VN" dirty="0">
                <a:latin typeface="+mj-lt"/>
              </a:rPr>
              <a:t>tích hợp cổng thanh toán thực tế (VNPay, Momo, ZaloPay)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+mj-lt"/>
              </a:rPr>
              <a:t>- </a:t>
            </a:r>
            <a:r>
              <a:rPr lang="vi-VN" dirty="0" smtClean="0">
                <a:latin typeface="+mj-lt"/>
              </a:rPr>
              <a:t>Sử </a:t>
            </a:r>
            <a:r>
              <a:rPr lang="vi-VN" dirty="0">
                <a:latin typeface="+mj-lt"/>
              </a:rPr>
              <a:t>dụng PHP thuần, chưa áp dụng framework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+mj-lt"/>
              </a:rPr>
              <a:t>- </a:t>
            </a:r>
            <a:r>
              <a:rPr lang="vi-VN" dirty="0" smtClean="0">
                <a:latin typeface="+mj-lt"/>
              </a:rPr>
              <a:t>Chưa </a:t>
            </a:r>
            <a:r>
              <a:rPr lang="vi-VN" dirty="0">
                <a:latin typeface="+mj-lt"/>
              </a:rPr>
              <a:t>có xác thực 2 lớp (2FA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46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CD0977-6926-DC47-B5AB-114AF40F4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91009" y="116017"/>
            <a:ext cx="11028783" cy="507240"/>
          </a:xfrm>
        </p:spPr>
        <p:txBody>
          <a:bodyPr/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CHƯƠNG 4: KẾT LUẬN VÀ HƯỚNG PHÁT TRIỂN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BABA944-0C4E-C965-2B3F-00A3989AC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91" y="1207826"/>
            <a:ext cx="8229600" cy="4888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vi-VN" b="1" dirty="0">
                <a:latin typeface="+mj-lt"/>
              </a:rPr>
              <a:t>4.3 Hướng phát triển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4545" y="5941497"/>
            <a:ext cx="26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mtClean="0"/>
              <a:t>5</a:t>
            </a: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868680" y="1864698"/>
            <a:ext cx="649224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Tích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hợp cổng thanh toán điện tử và Google Maps API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Nâng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cấp chat realtime với WebSocket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Phát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triển ứng dụng mobile (React Native/Flutter)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Tăng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cường bảo mật (CSRF, 2FA, rate limiting)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F9DB7F9-D416-7150-13C5-47D150B45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893F2C5-6598-1F11-1167-A1FE540EC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vi-VN" sz="3600" dirty="0" smtClean="0">
                <a:latin typeface="+mj-lt"/>
              </a:rPr>
              <a:t>CẢM ƠN </a:t>
            </a:r>
            <a:r>
              <a:rPr lang="vi-VN" sz="3600" dirty="0">
                <a:latin typeface="+mj-lt"/>
              </a:rPr>
              <a:t>QUÝ</a:t>
            </a:r>
            <a:r>
              <a:rPr lang="vi-VN" sz="3600" dirty="0" smtClean="0">
                <a:latin typeface="+mj-lt"/>
              </a:rPr>
              <a:t> THẦY CÔ ĐÃ </a:t>
            </a:r>
          </a:p>
          <a:p>
            <a:pPr marL="0" indent="0" algn="ctr">
              <a:buNone/>
            </a:pPr>
            <a:r>
              <a:rPr lang="vi-VN" sz="3600" dirty="0" smtClean="0">
                <a:latin typeface="+mj-lt"/>
              </a:rPr>
              <a:t>LẮNG NGHE BÀI THUYẾT TRÌNH</a:t>
            </a:r>
            <a:endParaRPr lang="vi-VN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74848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</TotalTime>
  <Words>925</Words>
  <Application>Microsoft Office PowerPoint</Application>
  <PresentationFormat>On-screen Show (4:3)</PresentationFormat>
  <Paragraphs>126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  ĐỀ TÀI: XÂY DỰNG WEBSITE BÁN ĐỒ ĂN </vt:lpstr>
      <vt:lpstr>PowerPoint Presentation</vt:lpstr>
      <vt:lpstr>PowerPoint Presentation</vt:lpstr>
      <vt:lpstr>PowerPoint Presentation</vt:lpstr>
      <vt:lpstr>PowerPoint Presentation</vt:lpstr>
      <vt:lpstr>CHƯƠNG 1: CƠ SỞ LÝ THUYẾT</vt:lpstr>
      <vt:lpstr>CHƯƠNG 2 : PHÂN TÍCH THIẾT KẾ HỆ THỐNG</vt:lpstr>
      <vt:lpstr>CHƯƠNG 2 : PHÂN TÍCH THIẾT KẾ HỆ THỐNG</vt:lpstr>
      <vt:lpstr>CHƯƠNG 2 : PHÂN TÍCH THIẾT KẾ HỆ THỐNG</vt:lpstr>
      <vt:lpstr>CHƯƠNG 2 : PHÂN TÍCH THIẾT KẾ HỆ THỐNG</vt:lpstr>
      <vt:lpstr>CHƯƠNG 2 : PHÂN TÍCH THIẾT KẾ HỆ THỐNG</vt:lpstr>
      <vt:lpstr>CHƯƠNG 2 : PHÂN TÍCH THIẾT KẾ HỆ THỐNG</vt:lpstr>
      <vt:lpstr>CHƯƠNG 2 : PHÂN TÍCH THIẾT KẾ HỆ THỐNG</vt:lpstr>
      <vt:lpstr>CHƯƠNG 2 : PHÂN TÍCH THIẾT KẾ HỆ THỐNG</vt:lpstr>
      <vt:lpstr>CHƯƠNG 3: XÂY DỰNG WEBSITE</vt:lpstr>
      <vt:lpstr>CHƯƠNG 3: XÂY DỰNG WEBSITE</vt:lpstr>
      <vt:lpstr>CHƯƠNG 3: XÂY DỰNG WEBSITE</vt:lpstr>
      <vt:lpstr>CHƯƠNG 3: XÂY DỰNG WEBSITE</vt:lpstr>
      <vt:lpstr>CHƯƠNG 3: XÂY DỰNG WEBSITE</vt:lpstr>
      <vt:lpstr>CHƯƠNG 4: KẾT LUẬN VÀ HƯỚNG PHÁT TRIỂN</vt:lpstr>
      <vt:lpstr>CHƯƠNG 4: KẾT LUẬN VÀ HƯỚNG PHÁT TRIỂN</vt:lpstr>
      <vt:lpstr>CHƯƠNG 4: KẾT LUẬN VÀ HƯỚNG PHÁT TRIỂN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1: TỔNG QUAN VỀ QUẢN LÝ DỰ ÁN PHẦN MỀM</dc:title>
  <dc:creator>Khac Quoc</dc:creator>
  <dc:description>generated using python-pptx</dc:description>
  <cp:lastModifiedBy>tramt</cp:lastModifiedBy>
  <cp:revision>126</cp:revision>
  <dcterms:created xsi:type="dcterms:W3CDTF">2013-01-27T09:14:16Z</dcterms:created>
  <dcterms:modified xsi:type="dcterms:W3CDTF">2026-01-09T02:46:15Z</dcterms:modified>
</cp:coreProperties>
</file>